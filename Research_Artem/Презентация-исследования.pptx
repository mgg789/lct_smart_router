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0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509760" y="0"/>
            <a:ext cx="2679192" cy="6858000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572768"/>
            <a:ext cx="81381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FFD200"/>
                </a:solidFill>
                <a:latin typeface="Segoe UI"/>
              </a:rPr>
              <a:t>КЕЙС «БИЛАЙН БИЗНЕС» · ЛЦТ-2026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81381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3700" b="1">
                <a:solidFill>
                  <a:srgbClr val="FFFFFF"/>
                </a:solidFill>
                <a:latin typeface="Segoe UI"/>
              </a:rPr>
              <a:t>Каким должен быть сервис планирования маршрутов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4261104"/>
            <a:ext cx="1371600" cy="45720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4526280"/>
            <a:ext cx="81381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0">
                <a:solidFill>
                  <a:srgbClr val="E3DAEF"/>
                </a:solidFill>
                <a:latin typeface="Segoe UI"/>
              </a:rPr>
              <a:t>Результаты продуктового исследования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4983480"/>
            <a:ext cx="7772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A897C4"/>
                </a:solidFill>
                <a:latin typeface="Segoe UI"/>
              </a:rPr>
              <a:t>Что показало исследование и каким из этого следует быть продукту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57232" y="5669280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7C6B99"/>
                </a:solidFill>
                <a:latin typeface="Segoe UI"/>
              </a:rPr>
              <a:t>15.09.2026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82296" cy="42062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Что было исследовано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006348"/>
            <a:ext cx="10607040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A897C4"/>
                </a:solidFill>
                <a:latin typeface="Segoe UI"/>
              </a:rPr>
              <a:t>Объём работы, на котором построены выводы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89379"/>
            <a:ext cx="2539746" cy="190195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89379"/>
            <a:ext cx="2539746" cy="5029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145411"/>
            <a:ext cx="208254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FFD200"/>
                </a:solidFill>
                <a:latin typeface="Segoe U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114675"/>
            <a:ext cx="2082545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E3DAEF"/>
                </a:solidFill>
                <a:latin typeface="Segoe UI"/>
              </a:rPr>
              <a:t>страниц ТЗ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E3DAEF"/>
                </a:solidFill>
                <a:latin typeface="Segoe UI"/>
              </a:rPr>
              <a:t>разобрано в 60+ требований с 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5002" y="1889379"/>
            <a:ext cx="2539746" cy="190195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5002" y="1889379"/>
            <a:ext cx="2539746" cy="5029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2746" y="2145411"/>
            <a:ext cx="208254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FFD200"/>
                </a:solidFill>
                <a:latin typeface="Segoe UI"/>
              </a:rPr>
              <a:t>205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2746" y="3114675"/>
            <a:ext cx="2082545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E3DAEF"/>
                </a:solidFill>
                <a:latin typeface="Segoe UI"/>
              </a:rPr>
              <a:t>заявок и 35 бригад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E3DAEF"/>
                </a:solidFill>
                <a:latin typeface="Segoe UI"/>
              </a:rPr>
              <a:t>в реальном датасете за 17.08.2026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4204" y="1889379"/>
            <a:ext cx="2539746" cy="190195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4204" y="1889379"/>
            <a:ext cx="2539746" cy="5029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145411"/>
            <a:ext cx="208254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FFD200"/>
                </a:solidFill>
                <a:latin typeface="Segoe U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1948" y="3114675"/>
            <a:ext cx="2082545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E3DAEF"/>
                </a:solidFill>
                <a:latin typeface="Segoe UI"/>
              </a:rPr>
              <a:t>направлений ресёрча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E3DAEF"/>
                </a:solidFill>
                <a:latin typeface="Segoe UI"/>
              </a:rPr>
              <a:t>данные · рынок · алгоритмы · гео · код · практика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3406" y="1889379"/>
            <a:ext cx="2539746" cy="190195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3406" y="1889379"/>
            <a:ext cx="2539746" cy="5029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1150" y="2145411"/>
            <a:ext cx="208254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FFD200"/>
                </a:solidFill>
                <a:latin typeface="Segoe UI"/>
              </a:rPr>
              <a:t>21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1150" y="3114675"/>
            <a:ext cx="2082545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E3DAEF"/>
                </a:solidFill>
                <a:latin typeface="Segoe UI"/>
              </a:rPr>
              <a:t>документ исследования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E3DAEF"/>
                </a:solidFill>
                <a:latin typeface="Segoe UI"/>
              </a:rPr>
              <a:t>≈ 9 900 строк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029075"/>
            <a:ext cx="10817352" cy="60528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029075"/>
            <a:ext cx="41148" cy="605282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147947"/>
            <a:ext cx="10332720" cy="422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Разобраны: техническое задание, реальный датасет трёх зон, существующее ядро, рынок FSM-систем, литература по маршрутизации, практика хакатонов и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продукты заказчика.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190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Продуктовое исследование · Кейс «Билайн Бизнес» · ЛЦТ-2026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19088"/>
            <a:ext cx="896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82296" cy="42062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Главный вывод исследования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73275"/>
            <a:ext cx="10817352" cy="1225296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73275"/>
            <a:ext cx="54864" cy="1225296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73275"/>
            <a:ext cx="1005840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1">
                <a:solidFill>
                  <a:srgbClr val="FFD200"/>
                </a:solidFill>
                <a:latin typeface="Segoe UI"/>
              </a:rPr>
              <a:t>Кейс выглядит алгоритмическим,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1">
                <a:solidFill>
                  <a:srgbClr val="FFD200"/>
                </a:solidFill>
                <a:latin typeface="Segoe UI"/>
              </a:rPr>
              <a:t>а оценивается как продуктовый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109468"/>
            <a:ext cx="100584" cy="100584"/>
          </a:xfrm>
          <a:prstGeom prst="ellipse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018028"/>
            <a:ext cx="10104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0">
                <a:solidFill>
                  <a:srgbClr val="E3DAEF"/>
                </a:solidFill>
                <a:latin typeface="Segoe UI"/>
              </a:rPr>
              <a:t>ТЗ трижды повторяет: «не нужно промышленную систему», «не требуется доказывать оптимум», «хороший результат — завершённый и понятный прототип»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58108"/>
            <a:ext cx="100584" cy="100584"/>
          </a:xfrm>
          <a:prstGeom prst="ellipse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566668"/>
            <a:ext cx="10104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0">
                <a:solidFill>
                  <a:srgbClr val="E3DAEF"/>
                </a:solidFill>
                <a:latin typeface="Segoe UI"/>
              </a:rPr>
              <a:t>55 % веса оценки — «подход команды» и «техническая реализация», где прямо названы разумные допущения и корректный учёт ограничений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206748"/>
            <a:ext cx="100584" cy="100584"/>
          </a:xfrm>
          <a:prstGeom prst="ellipse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115308"/>
            <a:ext cx="10104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0">
                <a:solidFill>
                  <a:srgbClr val="E3DAEF"/>
                </a:solidFill>
                <a:latin typeface="Segoe UI"/>
              </a:rPr>
              <a:t>Пять вопросов, которые жюри задаст обязательно, — это не про качество оптимизатора, а про проверяемость, понятность, реакцию на изменения, сравнение и воспроизводимость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828539"/>
            <a:ext cx="10817352" cy="430657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828539"/>
            <a:ext cx="41148" cy="430657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947411"/>
            <a:ext cx="10332720" cy="2477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Значит побеждает не лучший солвер, а лучший помощник диспетчера.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190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Продуктовое исследование · Кейс «Билайн Бизнес» · ЛЦТ-2026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19088"/>
            <a:ext cx="896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0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286000"/>
            <a:ext cx="82296" cy="182880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39696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5400" b="1">
                <a:solidFill>
                  <a:srgbClr val="331E52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2724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Что показали данные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86784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>
                <a:solidFill>
                  <a:srgbClr val="A897C4"/>
                </a:solidFill>
                <a:latin typeface="Segoe UI"/>
              </a:rPr>
              <a:t>Шесть находок, каждая из которых меняет конструкцию решения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82296" cy="42062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Находка 1. Справочник навыков лежит внутри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006348"/>
            <a:ext cx="10607040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A897C4"/>
                </a:solidFill>
                <a:latin typeface="Segoe UI"/>
              </a:rPr>
              <a:t>ТЗ задаёт три навыка. Мы искали, откуда они взялись — и нашли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89379"/>
          <a:ext cx="10817351" cy="22311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53090"/>
                <a:gridCol w="1255585"/>
                <a:gridCol w="5408676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A472F5"/>
                          </a:solidFill>
                          <a:latin typeface="Segoe UI"/>
                        </a:rPr>
                        <a:t>Колонка «Тип заявки BK»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A472F5"/>
                          </a:solidFill>
                          <a:latin typeface="Segoe UI"/>
                        </a:rPr>
                        <a:t>Заявок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A472F5"/>
                          </a:solidFill>
                          <a:latin typeface="Segoe UI"/>
                        </a:rPr>
                        <a:t>Навык из справочника ТЗ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Подключение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95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2. Работы на подключение и дозаказы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Дозаказ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2. Работы на подключение и дозаказы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Локальная заявка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77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1. Локальные работы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Глобальная проблема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3. Аварийные работы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D200"/>
                          </a:solidFill>
                          <a:latin typeface="Segoe UI"/>
                        </a:rPr>
                        <a:t>Итого</a:t>
                      </a:r>
                    </a:p>
                  </a:txBody>
                  <a:tcPr marL="128016" marR="91440" marT="27432" marB="27432" anchor="ctr">
                    <a:solidFill>
                      <a:srgbClr val="331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D200"/>
                          </a:solidFill>
                          <a:latin typeface="Segoe UI"/>
                        </a:rPr>
                        <a:t>205</a:t>
                      </a:r>
                    </a:p>
                  </a:txBody>
                  <a:tcPr marL="128016" marR="91440" marT="27432" marB="27432" anchor="ctr">
                    <a:solidFill>
                      <a:srgbClr val="331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D200"/>
                          </a:solidFill>
                          <a:latin typeface="Segoe UI"/>
                        </a:rPr>
                        <a:t>раскладывается без остатка</a:t>
                      </a:r>
                    </a:p>
                  </a:txBody>
                  <a:tcPr marL="128016" marR="91440" marT="27432" marB="27432" anchor="ctr">
                    <a:solidFill>
                      <a:srgbClr val="331E5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4339971"/>
            <a:ext cx="10817352" cy="60528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4339971"/>
            <a:ext cx="41148" cy="605282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458843"/>
            <a:ext cx="10332720" cy="422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Название навыка в ТЗ дословно содержит оба исходных значения — «Подключение» и «Дозаказ». Это не совпадение: справочник выведен из этой колонки.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→ Маппинг навыков перестаёт быть нашим допущением и становится восстановленным правилом заказчика.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Продуктовое исследование · Кейс «Билайн Бизнес» · ЛЦТ-2026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19088"/>
            <a:ext cx="896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82296" cy="42062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Находка 2. Окно — это обещание клиенту, а не слот визита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73275"/>
            <a:ext cx="10817352" cy="1225296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73275"/>
            <a:ext cx="54864" cy="1225296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73275"/>
            <a:ext cx="1005840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1">
                <a:solidFill>
                  <a:srgbClr val="FFD200"/>
                </a:solidFill>
                <a:latin typeface="Segoe UI"/>
              </a:rPr>
              <a:t>66 из 205 заявок (32 %)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100" b="1">
                <a:solidFill>
                  <a:srgbClr val="FFD200"/>
                </a:solidFill>
                <a:latin typeface="Segoe UI"/>
              </a:rPr>
              <a:t>стоят в одном окне с другой заявкой той же бригады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109468"/>
            <a:ext cx="100584" cy="100584"/>
          </a:xfrm>
          <a:prstGeom prst="ellipse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018028"/>
            <a:ext cx="10104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0">
                <a:solidFill>
                  <a:srgbClr val="E3DAEF"/>
                </a:solidFill>
                <a:latin typeface="Segoe UI"/>
              </a:rPr>
              <a:t>Максимум — семь заявок одной бригады в одном двухчасовом окне. Одновременно это физически невозможно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438652"/>
            <a:ext cx="100584" cy="100584"/>
          </a:xfrm>
          <a:prstGeom prst="ellipse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347212"/>
            <a:ext cx="10104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0">
                <a:solidFill>
                  <a:srgbClr val="E3DAEF"/>
                </a:solidFill>
                <a:latin typeface="Segoe UI"/>
              </a:rPr>
              <a:t>Значит двухчасовое окно означает «мастер приедет с 12 до 14», а не «работа длится два часа»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767835"/>
            <a:ext cx="100584" cy="100584"/>
          </a:xfrm>
          <a:prstGeom prst="ellipse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676395"/>
            <a:ext cx="10104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0">
                <a:solidFill>
                  <a:srgbClr val="E3DAEF"/>
                </a:solidFill>
                <a:latin typeface="Segoe UI"/>
              </a:rPr>
              <a:t>Наивная трактовка «окно = время работы» даёт бригаде максимум 6 заявок в день — и любой план становится невыполнимым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389627"/>
            <a:ext cx="10817352" cy="60528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389627"/>
            <a:ext cx="41148" cy="605282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508499"/>
            <a:ext cx="10332720" cy="422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Правильная трактовка дословно совпадает с ТЗ: окно ограничивает НАЧАЛО работ. Мы получили этому эмпирическое подтверждение прямо из данных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заказчика.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190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Продуктовое исследование · Кейс «Билайн Бизнес» · ЛЦТ-2026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19088"/>
            <a:ext cx="896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82296" cy="42062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Находка 3. У нас есть эталонный ответ человека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006348"/>
            <a:ext cx="10607040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A897C4"/>
                </a:solidFill>
                <a:latin typeface="Segoe UI"/>
              </a:rPr>
              <a:t>Файлы «Контрольное распределение» — это реальные назначения бригад живым диспетчером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89379"/>
            <a:ext cx="3447288" cy="1890585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89379"/>
            <a:ext cx="3447288" cy="5029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5411"/>
            <a:ext cx="28986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Живой диспетчер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30627"/>
            <a:ext cx="2898648" cy="516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Колонка «Бригада»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в контрольном файле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284093"/>
            <a:ext cx="2898648" cy="349567"/>
          </a:xfrm>
          <a:prstGeom prst="rect">
            <a:avLst/>
          </a:prstGeom>
          <a:solidFill>
            <a:srgbClr val="331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284093"/>
            <a:ext cx="2624328" cy="3495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A897C4"/>
                </a:solidFill>
                <a:latin typeface="Segoe UI"/>
              </a:rPr>
              <a:t>факт из данных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1889379"/>
            <a:ext cx="3447288" cy="1890585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889379"/>
            <a:ext cx="3447288" cy="50292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2145411"/>
            <a:ext cx="28986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Базовый вариант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730627"/>
            <a:ext cx="2898648" cy="516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Жадное распределение,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заданное ТЗ дословно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45152" y="3284093"/>
            <a:ext cx="2898648" cy="349567"/>
          </a:xfrm>
          <a:prstGeom prst="rect">
            <a:avLst/>
          </a:prstGeom>
          <a:solidFill>
            <a:srgbClr val="331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1456" y="3284093"/>
            <a:ext cx="2624328" cy="3495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A897C4"/>
                </a:solidFill>
                <a:latin typeface="Segoe UI"/>
              </a:rPr>
              <a:t>рассчитывается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5864" y="1889379"/>
            <a:ext cx="3447288" cy="1890585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4" y="1889379"/>
            <a:ext cx="3447288" cy="50292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4" y="2145411"/>
            <a:ext cx="28986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Целевое решение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4" y="2730627"/>
            <a:ext cx="2898648" cy="5168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Оптимизатор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с объяснениями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30184" y="3284093"/>
            <a:ext cx="2898648" cy="349567"/>
          </a:xfrm>
          <a:prstGeom prst="rect">
            <a:avLst/>
          </a:prstGeom>
          <a:solidFill>
            <a:srgbClr val="331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6488" y="3284093"/>
            <a:ext cx="2624328" cy="3495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A897C4"/>
                </a:solidFill>
                <a:latin typeface="Segoe UI"/>
              </a:rPr>
              <a:t>рассчитывается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017708"/>
            <a:ext cx="10817352" cy="779907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4017708"/>
            <a:ext cx="41148" cy="779907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136580"/>
            <a:ext cx="10332720" cy="5970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Это даёт третью колонку сравнения, которой не будет ни у одной другой команды.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Условие корректности: четыре честные оговорки — порядок визитов диспетчера неизвестен, длительности наши, он учитывал факторы вне данных, он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планировал всю Москву.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190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Продуктовое исследование · Кейс «Билайн Бизнес» · ЛЦТ-2026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19088"/>
            <a:ext cx="896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82296" cy="42062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Находка 4. В данных нет ничего, что требует ТЗ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006348"/>
            <a:ext cx="10607040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A897C4"/>
                </a:solidFill>
                <a:latin typeface="Segoe UI"/>
              </a:rPr>
              <a:t>Девять обязательных полей отсутствуют полностью. Это и есть главная инженерная работа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76488"/>
          <a:ext cx="10817351" cy="29626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87255"/>
                <a:gridCol w="1062418"/>
                <a:gridCol w="6567678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A472F5"/>
                          </a:solidFill>
                          <a:latin typeface="Segoe UI"/>
                        </a:rPr>
                        <a:t>Требует ТЗ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A472F5"/>
                          </a:solidFill>
                          <a:latin typeface="Segoe UI"/>
                        </a:rPr>
                        <a:t>Есть?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A472F5"/>
                          </a:solidFill>
                          <a:latin typeface="Segoe UI"/>
                        </a:rPr>
                        <a:t>Каким должен быть ответ решения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Координаты заявок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нет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Геокодирование с тремя фолбэками и кэшем в репозитории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Длительность работ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нет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Норматив по «Тип заявки HD» + модификаторы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Навыки инженеров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нет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Восстановление из фактически выполненных заявок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Смены инженеров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нет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Вывод из наблюдаемого разброса окон бригады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Стартовые точки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нет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Центроид адресов бригады — её зона ответственности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Тип транспорта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нет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Правило по характеру работ (самое слабое допущение)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Приоритет заявки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нет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Аварийные работы = срочные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5058600"/>
            <a:ext cx="10817352" cy="60528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058600"/>
            <a:ext cx="41148" cy="605282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5177472"/>
            <a:ext cx="10332720" cy="422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ТЗ прямо разрешает достроить данные при условии, что допущения описаны. Из пятнадцати итоговых допущений полностью сконструированы нами только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четыре — остальные восстановлены или выведены из файлов заказчика.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Продуктовое исследование · Кейс «Билайн Бизнес» · ЛЦТ-2026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19088"/>
            <a:ext cx="896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82296" cy="42062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Находка 5. Планировать нужно по зонам, а не по всей Москве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006348"/>
            <a:ext cx="10607040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A897C4"/>
                </a:solidFill>
                <a:latin typeface="Segoe UI"/>
              </a:rPr>
              <a:t>Рекомендация организаторов: 10–15 инженеров, не более 100 заявок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89379"/>
          <a:ext cx="10817352" cy="1865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77006"/>
                <a:gridCol w="1545336"/>
                <a:gridCol w="1545336"/>
                <a:gridCol w="4249674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A472F5"/>
                          </a:solidFill>
                          <a:latin typeface="Segoe UI"/>
                        </a:rPr>
                        <a:t>Зона обслуживания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A472F5"/>
                          </a:solidFill>
                          <a:latin typeface="Segoe UI"/>
                        </a:rPr>
                        <a:t>Заявок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A472F5"/>
                          </a:solidFill>
                          <a:latin typeface="Segoe UI"/>
                        </a:rPr>
                        <a:t>Бригад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A472F5"/>
                          </a:solidFill>
                          <a:latin typeface="Segoe UI"/>
                        </a:rPr>
                        <a:t>Попадает в рекомендацию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Восток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66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да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Юго-восток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83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да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Югоцентр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56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да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D200"/>
                          </a:solidFill>
                          <a:latin typeface="Segoe UI"/>
                        </a:rPr>
                        <a:t>Все три вместе</a:t>
                      </a:r>
                    </a:p>
                  </a:txBody>
                  <a:tcPr marL="128016" marR="91440" marT="27432" marB="27432" anchor="ctr">
                    <a:solidFill>
                      <a:srgbClr val="331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D200"/>
                          </a:solidFill>
                          <a:latin typeface="Segoe UI"/>
                        </a:rPr>
                        <a:t>205</a:t>
                      </a:r>
                    </a:p>
                  </a:txBody>
                  <a:tcPr marL="128016" marR="91440" marT="27432" marB="27432" anchor="ctr">
                    <a:solidFill>
                      <a:srgbClr val="331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D200"/>
                          </a:solidFill>
                          <a:latin typeface="Segoe UI"/>
                        </a:rPr>
                        <a:t>35</a:t>
                      </a:r>
                    </a:p>
                  </a:txBody>
                  <a:tcPr marL="128016" marR="91440" marT="27432" marB="27432" anchor="ctr">
                    <a:solidFill>
                      <a:srgbClr val="331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D200"/>
                          </a:solidFill>
                          <a:latin typeface="Segoe UI"/>
                        </a:rPr>
                        <a:t>нет — вдвое больше</a:t>
                      </a:r>
                    </a:p>
                  </a:txBody>
                  <a:tcPr marL="128016" marR="91440" marT="27432" marB="27432" anchor="ctr">
                    <a:solidFill>
                      <a:srgbClr val="331E5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3974211"/>
            <a:ext cx="10817352" cy="60528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3974211"/>
            <a:ext cx="41148" cy="605282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093083"/>
            <a:ext cx="10332720" cy="422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Каждая зона по отдельности точно попадает в рекомендованный масштаб. И это операционно верно: реальные бригады закреплены за территорией.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→ Один расчёт = одна зона. Планировать Каширу вместе с Кузьминками — не оптимизация, а ошибка модели.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Продуктовое исследование · Кейс «Билайн Бизнес» · ЛЦТ-2026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19088"/>
            <a:ext cx="896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82296" cy="42062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Находка 6. Цена проблемы измерена, а не придумана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006348"/>
            <a:ext cx="10607040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A897C4"/>
                </a:solidFill>
                <a:latin typeface="Segoe UI"/>
              </a:rPr>
              <a:t>Один реальный рабочий день заказчика — 17 августа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89379"/>
            <a:ext cx="2539746" cy="190195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89379"/>
            <a:ext cx="2539746" cy="5029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3544" y="2145411"/>
            <a:ext cx="208254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FFD200"/>
                </a:solidFill>
                <a:latin typeface="Segoe UI"/>
              </a:rPr>
              <a:t>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114675"/>
            <a:ext cx="2082545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E3DAEF"/>
                </a:solidFill>
                <a:latin typeface="Segoe UI"/>
              </a:rPr>
              <a:t>заявка отменена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E3DAEF"/>
                </a:solidFill>
                <a:latin typeface="Segoe UI"/>
              </a:rPr>
              <a:t>в течение дня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45002" y="1889379"/>
            <a:ext cx="2539746" cy="190195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45002" y="1889379"/>
            <a:ext cx="2539746" cy="5029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2746" y="2145411"/>
            <a:ext cx="208254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FFD200"/>
                </a:solidFill>
                <a:latin typeface="Segoe UI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2746" y="3114675"/>
            <a:ext cx="2082545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E3DAEF"/>
                </a:solidFill>
                <a:latin typeface="Segoe UI"/>
              </a:rPr>
              <a:t>заявок просрочено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E3DAEF"/>
                </a:solidFill>
                <a:latin typeface="Segoe UI"/>
              </a:rPr>
              <a:t>4.9 % визитов сорвано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4204" y="1889379"/>
            <a:ext cx="2539746" cy="190195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4204" y="1889379"/>
            <a:ext cx="2539746" cy="5029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1948" y="2145411"/>
            <a:ext cx="208254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FFD200"/>
                </a:solidFill>
                <a:latin typeface="Segoe UI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1948" y="3114675"/>
            <a:ext cx="2082545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E3DAEF"/>
                </a:solidFill>
                <a:latin typeface="Segoe UI"/>
              </a:rPr>
              <a:t>бригад в пути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E3DAEF"/>
                </a:solidFill>
                <a:latin typeface="Segoe UI"/>
              </a:rPr>
              <a:t>в момент изменений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63406" y="1889379"/>
            <a:ext cx="2539746" cy="190195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3406" y="1889379"/>
            <a:ext cx="2539746" cy="5029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01150" y="2145411"/>
            <a:ext cx="2082545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FFD200"/>
                </a:solidFill>
                <a:latin typeface="Segoe UI"/>
              </a:rPr>
              <a:t>64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1150" y="3114675"/>
            <a:ext cx="2082545" cy="6949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E3DAEF"/>
                </a:solidFill>
                <a:latin typeface="Segoe UI"/>
              </a:rPr>
              <a:t>заявки за пределами Москвы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00" b="0">
                <a:solidFill>
                  <a:srgbClr val="E3DAEF"/>
                </a:solidFill>
                <a:latin typeface="Segoe UI"/>
              </a:rPr>
              <a:t>Кашира, Домодедово, Ступино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4029075"/>
            <a:ext cx="10817352" cy="60528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4029075"/>
            <a:ext cx="41148" cy="605282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4147947"/>
            <a:ext cx="10332720" cy="422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День ломается и правится на ходу — это не гипотеза о проблеме, а факт из данных. Заявки в области по 37–115 км от МКАД ломают единую городскую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модель скорости и требуют отдельного режима.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190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Продуктовое исследование · Кейс «Билайн Бизнес» · ЛЦТ-2026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419088"/>
            <a:ext cx="896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0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286000"/>
            <a:ext cx="82296" cy="182880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39696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5400" b="1">
                <a:solidFill>
                  <a:srgbClr val="331E52"/>
                </a:solidFill>
                <a:latin typeface="Segoe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2724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Каким должно быть решение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86784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>
                <a:solidFill>
                  <a:srgbClr val="A897C4"/>
                </a:solidFill>
                <a:latin typeface="Segoe UI"/>
              </a:rPr>
              <a:t>Что следует из находок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82296" cy="42062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Продукт в одной фразе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73275"/>
            <a:ext cx="10817352" cy="1225296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73275"/>
            <a:ext cx="54864" cy="1225296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73275"/>
            <a:ext cx="1005840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FFD200"/>
                </a:solidFill>
                <a:latin typeface="Segoe UI"/>
              </a:rPr>
              <a:t>Второй пилот диспетчера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109468"/>
            <a:ext cx="100584" cy="100584"/>
          </a:xfrm>
          <a:prstGeom prst="ellipse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018028"/>
            <a:ext cx="10104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0">
                <a:solidFill>
                  <a:srgbClr val="E3DAEF"/>
                </a:solidFill>
                <a:latin typeface="Segoe UI"/>
              </a:rPr>
              <a:t>Строит выполнимый план дня за секунды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438652"/>
            <a:ext cx="100584" cy="100584"/>
          </a:xfrm>
          <a:prstGeom prst="ellipse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347212"/>
            <a:ext cx="10104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0">
                <a:solidFill>
                  <a:srgbClr val="E3DAEF"/>
                </a:solidFill>
                <a:latin typeface="Segoe UI"/>
              </a:rPr>
              <a:t>На человеческом языке объясняет каждое своё решение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767835"/>
            <a:ext cx="100584" cy="100584"/>
          </a:xfrm>
          <a:prstGeom prst="ellipse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676395"/>
            <a:ext cx="10104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0">
                <a:solidFill>
                  <a:srgbClr val="E3DAEF"/>
                </a:solidFill>
                <a:latin typeface="Segoe UI"/>
              </a:rPr>
              <a:t>Включая то, чего сделать не смог, — и что нужно изменить, чтобы получилось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170171"/>
            <a:ext cx="10817352" cy="60528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170171"/>
            <a:ext cx="41148" cy="605282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289044"/>
            <a:ext cx="10332720" cy="422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Ключевой тезис: планировщик, которому не доверяют, проигрывает Excel. Поэтому объяснимость — не украшение поверх алгоритма, а условие, при котором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алгоритм вообще нужен.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190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Продуктовое исследование · Кейс «Билайн Бизнес» · ЛЦТ-2026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19088"/>
            <a:ext cx="896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82296" cy="42062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Три опоры продукта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006348"/>
            <a:ext cx="10607040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A897C4"/>
                </a:solidFill>
                <a:latin typeface="Segoe UI"/>
              </a:rPr>
              <a:t>По одной на каждый вопрос, который жюри задаст обязательно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89379"/>
            <a:ext cx="3447288" cy="2269998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89379"/>
            <a:ext cx="3447288" cy="5029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5411"/>
            <a:ext cx="28986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Выполнимый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30627"/>
            <a:ext cx="2898648" cy="729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План не нарушает ни одного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ограничения — и это доказано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на экране счётчиками проверок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496818"/>
            <a:ext cx="2898648" cy="516255"/>
          </a:xfrm>
          <a:prstGeom prst="rect">
            <a:avLst/>
          </a:prstGeom>
          <a:solidFill>
            <a:srgbClr val="331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496818"/>
            <a:ext cx="2624328" cy="5162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A897C4"/>
                </a:solidFill>
                <a:latin typeface="Segoe UI"/>
              </a:rPr>
              <a:t>«Все ли ограничения реально проверяются?»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1889379"/>
            <a:ext cx="3447288" cy="2269998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889379"/>
            <a:ext cx="3447288" cy="50292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2145411"/>
            <a:ext cx="28986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Объяснимый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730627"/>
            <a:ext cx="2898648" cy="729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Причина у каждого назначения,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у каждого порядка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и у каждого отказа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45152" y="3496818"/>
            <a:ext cx="2898648" cy="516255"/>
          </a:xfrm>
          <a:prstGeom prst="rect">
            <a:avLst/>
          </a:prstGeom>
          <a:solidFill>
            <a:srgbClr val="331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1456" y="3496818"/>
            <a:ext cx="2624328" cy="5162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A897C4"/>
                </a:solidFill>
                <a:latin typeface="Segoe UI"/>
              </a:rPr>
              <a:t>«Можно ли понять результат без изучения кода?»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5864" y="1889379"/>
            <a:ext cx="3447288" cy="2269998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4" y="1889379"/>
            <a:ext cx="3447288" cy="50292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4" y="2145411"/>
            <a:ext cx="28986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Живой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4" y="2730627"/>
            <a:ext cx="2898648" cy="7296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План переживает события дня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и показывает, что именно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изменилось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30184" y="3496818"/>
            <a:ext cx="2898648" cy="516255"/>
          </a:xfrm>
          <a:prstGeom prst="rect">
            <a:avLst/>
          </a:prstGeom>
          <a:solidFill>
            <a:srgbClr val="331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6488" y="3496818"/>
            <a:ext cx="2624328" cy="51625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A897C4"/>
                </a:solidFill>
                <a:latin typeface="Segoe UI"/>
              </a:rPr>
              <a:t>«Корректно ли реагирует на изменение?»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64190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Продуктовое исследование · Кейс «Билайн Бизнес» · ЛЦТ-2026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7040" y="6419088"/>
            <a:ext cx="896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82296" cy="42062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Архитектура ценности: где создаётся отличие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006348"/>
            <a:ext cx="10607040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A897C4"/>
                </a:solidFill>
                <a:latin typeface="Segoe UI"/>
              </a:rPr>
              <a:t>Типовое решение строит два средних слоя. Разница — на краях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638744"/>
            <a:ext cx="10817352" cy="786384"/>
          </a:xfrm>
          <a:prstGeom prst="rect">
            <a:avLst/>
          </a:prstGeom>
          <a:solidFill>
            <a:srgbClr val="331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38744"/>
            <a:ext cx="54864" cy="78638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38744"/>
            <a:ext cx="21945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FFD200"/>
                </a:solidFill>
                <a:latin typeface="Segoe UI"/>
              </a:rPr>
              <a:t>ДОВЕРИЕ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638744"/>
            <a:ext cx="55778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E3DAEF"/>
                </a:solidFill>
                <a:latin typeface="Segoe UI"/>
              </a:rPr>
              <a:t>объяснения · причины отказов · различия планов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1638744"/>
            <a:ext cx="24688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чем выигрываем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2516568"/>
            <a:ext cx="10817352" cy="786384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2516568"/>
            <a:ext cx="54864" cy="786384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516568"/>
            <a:ext cx="21945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A472F5"/>
                </a:solidFill>
                <a:latin typeface="Segoe UI"/>
              </a:rPr>
              <a:t>КАРТИНА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516568"/>
            <a:ext cx="55778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E3DAEF"/>
                </a:solidFill>
                <a:latin typeface="Segoe UI"/>
              </a:rPr>
              <a:t>карта · таймлайн · метрики · сравнение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516568"/>
            <a:ext cx="24688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A897C4"/>
                </a:solidFill>
                <a:latin typeface="Segoe UI"/>
              </a:rPr>
              <a:t>чем убеждаем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394392"/>
            <a:ext cx="10817352" cy="786384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394392"/>
            <a:ext cx="54864" cy="786384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3394392"/>
            <a:ext cx="21945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A472F5"/>
                </a:solidFill>
                <a:latin typeface="Segoe UI"/>
              </a:rPr>
              <a:t>РЕШЕНИЕ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3394392"/>
            <a:ext cx="55778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E3DAEF"/>
                </a:solidFill>
                <a:latin typeface="Segoe UI"/>
              </a:rPr>
              <a:t>распределение · маршрутизация · перепланирование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394392"/>
            <a:ext cx="24688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A897C4"/>
                </a:solidFill>
                <a:latin typeface="Segoe UI"/>
              </a:rPr>
              <a:t>чем считаем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4272216"/>
            <a:ext cx="10817352" cy="786384"/>
          </a:xfrm>
          <a:prstGeom prst="rect">
            <a:avLst/>
          </a:prstGeom>
          <a:solidFill>
            <a:srgbClr val="331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85800" y="4272216"/>
            <a:ext cx="54864" cy="78638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272216"/>
            <a:ext cx="219456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FFD200"/>
                </a:solidFill>
                <a:latin typeface="Segoe UI"/>
              </a:rPr>
              <a:t>РЕАЛЬНОСТЬ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272216"/>
            <a:ext cx="557784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E3DAEF"/>
                </a:solidFill>
                <a:latin typeface="Segoe UI"/>
              </a:rPr>
              <a:t>адреса → координаты · навыки · длительности · смены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4272216"/>
            <a:ext cx="2468880" cy="7863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на чём стоим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5800" y="5296344"/>
            <a:ext cx="10817352" cy="60528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85800" y="5296344"/>
            <a:ext cx="41148" cy="605282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6112" y="5415216"/>
            <a:ext cx="10332720" cy="422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Нижний слой даёт правдоподобие: работа на реальных адресах реального дня заказчика. Верхний даёт доверие: три разных ответа на вопрос «почему» —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почему сюда, почему не туда, почему вообще никуда.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64190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Продуктовое исследование · Кейс «Билайн Бизнес» · ЛЦТ-2026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419088"/>
            <a:ext cx="896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82296" cy="42062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Слой «Реальность»: как данные должны становиться моделью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006348"/>
            <a:ext cx="10607040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A897C4"/>
                </a:solidFill>
                <a:latin typeface="Segoe UI"/>
              </a:rPr>
              <a:t>Конвейер, сохраняющий происхождение каждого значения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89379"/>
            <a:ext cx="2017166" cy="196164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89379"/>
            <a:ext cx="2017166" cy="5029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2104" y="2035683"/>
            <a:ext cx="17245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>
                <a:solidFill>
                  <a:srgbClr val="A472F5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328291"/>
            <a:ext cx="1724558" cy="312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Парсер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" y="2695575"/>
            <a:ext cx="1724558" cy="1027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00" b="0">
                <a:solidFill>
                  <a:srgbClr val="E3DAEF"/>
                </a:solidFill>
                <a:latin typeface="Segoe UI"/>
              </a:rPr>
              <a:t>CP1251, разделитель «;»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00" b="0">
                <a:solidFill>
                  <a:srgbClr val="E3DAEF"/>
                </a:solidFill>
                <a:latin typeface="Segoe UI"/>
              </a:rPr>
              <a:t>разные схемы трёх зон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00" b="0">
                <a:solidFill>
                  <a:srgbClr val="E3DAEF"/>
                </a:solidFill>
                <a:latin typeface="Segoe UI"/>
              </a:rPr>
              <a:t>колонки по заголовку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2966" y="2687320"/>
            <a:ext cx="182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900" b="1">
                <a:solidFill>
                  <a:srgbClr val="FFD200"/>
                </a:solidFill>
                <a:latin typeface="Segoe UI"/>
              </a:rPr>
              <a:t>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5846" y="1889379"/>
            <a:ext cx="2017166" cy="196164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5846" y="1889379"/>
            <a:ext cx="2017166" cy="5029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32150" y="2035683"/>
            <a:ext cx="17245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>
                <a:solidFill>
                  <a:srgbClr val="A472F5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2150" y="2328291"/>
            <a:ext cx="1724558" cy="312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Маппинг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32150" y="2695575"/>
            <a:ext cx="1724558" cy="1027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00" b="0">
                <a:solidFill>
                  <a:srgbClr val="E3DAEF"/>
                </a:solidFill>
                <a:latin typeface="Segoe UI"/>
              </a:rPr>
              <a:t>тип заявки → навык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00" b="0">
                <a:solidFill>
                  <a:srgbClr val="E3DAEF"/>
                </a:solidFill>
                <a:latin typeface="Segoe UI"/>
              </a:rPr>
              <a:t>тип работ → длительность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00" b="0">
                <a:solidFill>
                  <a:srgbClr val="E3DAEF"/>
                </a:solidFill>
                <a:latin typeface="Segoe UI"/>
              </a:rPr>
              <a:t>статус → событие дня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03012" y="2687320"/>
            <a:ext cx="182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900" b="1">
                <a:solidFill>
                  <a:srgbClr val="FFD200"/>
                </a:solidFill>
                <a:latin typeface="Segoe UI"/>
              </a:rPr>
              <a:t>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85892" y="1889379"/>
            <a:ext cx="2017166" cy="196164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85892" y="1889379"/>
            <a:ext cx="2017166" cy="5029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32196" y="2035683"/>
            <a:ext cx="17245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>
                <a:solidFill>
                  <a:srgbClr val="A472F5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2196" y="2328291"/>
            <a:ext cx="1724558" cy="312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Геокодер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32196" y="2695575"/>
            <a:ext cx="1724558" cy="1027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00" b="0">
                <a:solidFill>
                  <a:srgbClr val="E3DAEF"/>
                </a:solidFill>
                <a:latin typeface="Segoe UI"/>
              </a:rPr>
              <a:t>адрес → координаты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00" b="0">
                <a:solidFill>
                  <a:srgbClr val="E3DAEF"/>
                </a:solidFill>
                <a:latin typeface="Segoe UI"/>
              </a:rPr>
              <a:t>три уровня фолбэка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00" b="0">
                <a:solidFill>
                  <a:srgbClr val="E3DAEF"/>
                </a:solidFill>
                <a:latin typeface="Segoe UI"/>
              </a:rPr>
              <a:t>кэш в репозитории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03059" y="2687320"/>
            <a:ext cx="182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900" b="1">
                <a:solidFill>
                  <a:srgbClr val="FFD200"/>
                </a:solidFill>
                <a:latin typeface="Segoe UI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85939" y="1889379"/>
            <a:ext cx="2017166" cy="196164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85939" y="1889379"/>
            <a:ext cx="2017166" cy="5029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32243" y="2035683"/>
            <a:ext cx="17245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>
                <a:solidFill>
                  <a:srgbClr val="A472F5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32243" y="2328291"/>
            <a:ext cx="1724558" cy="312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Профили бригад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32243" y="2695575"/>
            <a:ext cx="1724558" cy="1027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00" b="0">
                <a:solidFill>
                  <a:srgbClr val="E3DAEF"/>
                </a:solidFill>
                <a:latin typeface="Segoe UI"/>
              </a:rPr>
              <a:t>навыки из фактических заявок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00" b="0">
                <a:solidFill>
                  <a:srgbClr val="E3DAEF"/>
                </a:solidFill>
                <a:latin typeface="Segoe UI"/>
              </a:rPr>
              <a:t>смены из окон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00" b="0">
                <a:solidFill>
                  <a:srgbClr val="E3DAEF"/>
                </a:solidFill>
                <a:latin typeface="Segoe UI"/>
              </a:rPr>
              <a:t>старт — центроид адресов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03105" y="2687320"/>
            <a:ext cx="18288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900" b="1">
                <a:solidFill>
                  <a:srgbClr val="FFD200"/>
                </a:solidFill>
                <a:latin typeface="Segoe UI"/>
              </a:rPr>
              <a:t>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485985" y="1889379"/>
            <a:ext cx="2017166" cy="196164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485985" y="1889379"/>
            <a:ext cx="2017166" cy="5029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32289" y="2035683"/>
            <a:ext cx="172455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1">
                <a:solidFill>
                  <a:srgbClr val="A472F5"/>
                </a:solidFill>
                <a:latin typeface="Segoe U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32289" y="2328291"/>
            <a:ext cx="1724558" cy="312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50" b="1">
                <a:solidFill>
                  <a:srgbClr val="FFFFFF"/>
                </a:solidFill>
                <a:latin typeface="Segoe UI"/>
              </a:rPr>
              <a:t>Валидатор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32289" y="2695575"/>
            <a:ext cx="1724558" cy="10274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00" b="0">
                <a:solidFill>
                  <a:srgbClr val="E3DAEF"/>
                </a:solidFill>
                <a:latin typeface="Segoe UI"/>
              </a:rPr>
              <a:t>инварианты заявок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00" b="0">
                <a:solidFill>
                  <a:srgbClr val="E3DAEF"/>
                </a:solidFill>
                <a:latin typeface="Segoe UI"/>
              </a:rPr>
              <a:t>и инженеров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100" b="0">
                <a:solidFill>
                  <a:srgbClr val="E3DAEF"/>
                </a:solidFill>
                <a:latin typeface="Segoe UI"/>
              </a:rPr>
              <a:t>требования к набору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4088765"/>
            <a:ext cx="10817352" cy="60528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" y="4088765"/>
            <a:ext cx="41148" cy="605282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6112" y="4207637"/>
            <a:ext cx="10332720" cy="422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Каждое поле несёт метку происхождения: факт из данных · восстановлено · допущение. Это позволяет показать диспетчеру, откуда взялось любое свойство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заявки, — и снимает половину вопросов о достоверности.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64190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Продуктовое исследование · Кейс «Билайн Бизнес» · ЛЦТ-2026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607040" y="6419088"/>
            <a:ext cx="896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82296" cy="42062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Логическая модель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006348"/>
            <a:ext cx="10607040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A897C4"/>
                </a:solidFill>
                <a:latin typeface="Segoe UI"/>
              </a:rPr>
              <a:t>Мир продукта: сущности, состояния, проверки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60867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A472F5"/>
                </a:solidFill>
                <a:latin typeface="Segoe UI"/>
              </a:rPr>
              <a:t>Семь сущностей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0208" y="1860867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Заявка · Инженер · Назначение · План · Событие · Объяснение · Различия планов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46083"/>
            <a:ext cx="292608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A472F5"/>
                </a:solidFill>
                <a:latin typeface="Segoe UI"/>
              </a:rPr>
              <a:t>Восемь инвариантов назначения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0208" y="2446083"/>
            <a:ext cx="731520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Навык · транспорт · начало в окне · завершение в смене · достижимость старта · согласованность времён · неотрицательное ожидание · непрерывная нумерация визитов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1441"/>
            <a:ext cx="292608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A472F5"/>
                </a:solidFill>
                <a:latin typeface="Segoe UI"/>
              </a:rPr>
              <a:t>Решающая таблица допустимости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208" y="3151441"/>
            <a:ext cx="731520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Семь проверок в строгом порядке — от самой дешёвой и объяснимой к самой сложной. Первая сработавшая становится причиной отказа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792791"/>
            <a:ext cx="10817352" cy="57734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792791"/>
            <a:ext cx="45720" cy="57734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56799"/>
            <a:ext cx="292608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D200"/>
                </a:solidFill>
                <a:latin typeface="Segoe UI"/>
              </a:rPr>
              <a:t>Ключевое различие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8" y="3856799"/>
            <a:ext cx="731520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Проверки 1–5 не зависят от маршрута → причина абсолютна («невозможно»). Проверки 6–7 зависят → причина относительна («в этом плане не нашлось места»)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562157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A472F5"/>
                </a:solidFill>
                <a:latin typeface="Segoe UI"/>
              </a:rPr>
              <a:t>Семь кодов причин отказа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208" y="4562157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Четыре названы в самом ТЗ, три добавлены для полноты диагностики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5138229"/>
            <a:ext cx="10817352" cy="60528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5138229"/>
            <a:ext cx="41148" cy="605282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257101"/>
            <a:ext cx="10332720" cy="422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Инварианты проверяет отдельный валидатор, написанный независимо от оптимизатора — по тексту ТЗ, а не по коду модели. Иначе он просто повторит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ошибку солвера.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4190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Продуктовое исследование · Кейс «Билайн Бизнес» · ЛЦТ-2026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7040" y="6419088"/>
            <a:ext cx="896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82296" cy="42062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Математическая модель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73275"/>
            <a:ext cx="10817352" cy="1225296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73275"/>
            <a:ext cx="54864" cy="1225296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73275"/>
            <a:ext cx="1005840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FFD200"/>
                </a:solidFill>
                <a:latin typeface="Segoe UI"/>
              </a:rPr>
              <a:t>заявки  ≻  бригады  ≻  пробег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109468"/>
            <a:ext cx="100584" cy="100584"/>
          </a:xfrm>
          <a:prstGeom prst="ellipse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018028"/>
            <a:ext cx="10104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0">
                <a:solidFill>
                  <a:srgbClr val="E3DAEF"/>
                </a:solidFill>
                <a:latin typeface="Segoe UI"/>
              </a:rPr>
              <a:t>Класс задачи: маршрутизация с временными окнами, разными стартовыми точками, без возврата на базу, с навыками и разнородным транспортом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658108"/>
            <a:ext cx="100584" cy="100584"/>
          </a:xfrm>
          <a:prstGeom prst="ellipse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566668"/>
            <a:ext cx="10104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0">
                <a:solidFill>
                  <a:srgbClr val="E3DAEF"/>
                </a:solidFill>
                <a:latin typeface="Segoe UI"/>
              </a:rPr>
              <a:t>Целевая функция строго лексикографическая: сначала максимум выполненных заявок (срочные весят втрое), затем минимум задействованных бригад, затем минимум пробега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4206748"/>
            <a:ext cx="100584" cy="100584"/>
          </a:xfrm>
          <a:prstGeom prst="ellipse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115308"/>
            <a:ext cx="10104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0">
                <a:solidFill>
                  <a:srgbClr val="E3DAEF"/>
                </a:solidFill>
                <a:latin typeface="Segoe UI"/>
              </a:rPr>
              <a:t>Веса не подбираются на глаз — выведены неравенства, при которых старший критерий математически доминирует над младшими при любых входных данных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828539"/>
            <a:ext cx="10817352" cy="60528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828539"/>
            <a:ext cx="41148" cy="605282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947411"/>
            <a:ext cx="10332720" cy="422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«Не выполнить заявку» = 100 единиц · «лишняя бригада» = 1 · «лишний километр» = 0.0001.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Система никогда не пожертвует заявкой ради километров — и это можно произнести вслух на защите.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190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Продуктовое исследование · Кейс «Билайн Бизнес» · ЛЦТ-2026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19088"/>
            <a:ext cx="896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82296" cy="42062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Проверка качества без доказательства оптимума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006348"/>
            <a:ext cx="10607040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A897C4"/>
                </a:solidFill>
                <a:latin typeface="Segoe UI"/>
              </a:rPr>
              <a:t>ТЗ прямо освобождает от доказательства. Но предъявить предел можно бесплатно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53387"/>
            <a:ext cx="292608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A472F5"/>
                </a:solidFill>
                <a:latin typeface="Segoe UI"/>
              </a:rPr>
              <a:t>Оценка по объёму работ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0208" y="1953387"/>
            <a:ext cx="731520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Число бригад не может быть меньше, чем суммарная длительность всех работ, делённая на самую длинную смену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8745"/>
            <a:ext cx="292608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A472F5"/>
                </a:solidFill>
                <a:latin typeface="Segoe UI"/>
              </a:rPr>
              <a:t>Энергетическая оценка по интервалу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0208" y="2658745"/>
            <a:ext cx="731520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Для любого окна: заявки, которые обязаны уместиться целиком внутри него, ограничены суммарной ёмкостью бригад на этом интервале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64102"/>
            <a:ext cx="292608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A472F5"/>
                </a:solidFill>
                <a:latin typeface="Segoe UI"/>
              </a:rPr>
              <a:t>Оценка по навыкам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208" y="3364102"/>
            <a:ext cx="731520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То же самое отдельно по каждому навыку — и если требуется больше бригад, чем вообще существует с этим навыком, план невыполним ещё до запуска расчёта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4005452"/>
            <a:ext cx="10817352" cy="57734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4005452"/>
            <a:ext cx="45720" cy="57734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69461"/>
            <a:ext cx="292608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D200"/>
                </a:solidFill>
                <a:latin typeface="Segoe UI"/>
              </a:rPr>
              <a:t>Что это даёт продукту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8" y="4069461"/>
            <a:ext cx="731520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«Задействовано 7 бригад, теоретический минимум для этих данных — 6». И агрегированное объяснение дефицита вместо беспомощного «алгоритм не смог»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765674"/>
            <a:ext cx="10817352" cy="60528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765674"/>
            <a:ext cx="41148" cy="605282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884546"/>
            <a:ext cx="10332720" cy="422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Пример формулировки: «В окне 18:00–20:00 сосредоточено 34 часа аварийных работ. Бригад с этим навыком двенадцать, суммарная ёмкость — 24 часа.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Дефицит 10 часов ≈ 5 заявок. Ни один алгоритм не разместит их все».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190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Продуктовое исследование · Кейс «Билайн Бизнес» · ЛЦТ-2026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19088"/>
            <a:ext cx="896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82296" cy="42062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Физическая модель перемещения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006348"/>
            <a:ext cx="10607040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A897C4"/>
                </a:solidFill>
                <a:latin typeface="Segoe UI"/>
              </a:rPr>
              <a:t>ТЗ прямо разрешает упрощённый расчёт по координатам при условии, что допущение описано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89379"/>
          <a:ext cx="10817350" cy="223113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59049"/>
                <a:gridCol w="1818846"/>
                <a:gridCol w="2010304"/>
                <a:gridCol w="3829151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A472F5"/>
                          </a:solidFill>
                          <a:latin typeface="Segoe UI"/>
                        </a:rPr>
                        <a:t>Транспорт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A472F5"/>
                          </a:solidFill>
                          <a:latin typeface="Segoe UI"/>
                        </a:rPr>
                        <a:t>Скорость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A472F5"/>
                          </a:solidFill>
                          <a:latin typeface="Segoe UI"/>
                        </a:rPr>
                        <a:t>Извилистость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A472F5"/>
                          </a:solidFill>
                          <a:latin typeface="Segoe UI"/>
                        </a:rPr>
                        <a:t>Надбавки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Автомобиль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28 км/ч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1.35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парковка +5, подъезд +5 мин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Пешеход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4.8 км/ч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1.15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подъезд +5 мин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Велосипед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14 км/ч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1.20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подъезд +5 мин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Общественный транспорт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17 км/ч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1.45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ожидание +5, подъезд +5 мин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D200"/>
                          </a:solidFill>
                          <a:latin typeface="Segoe UI"/>
                        </a:rPr>
                        <a:t>Загородный режим</a:t>
                      </a:r>
                    </a:p>
                  </a:txBody>
                  <a:tcPr marL="128016" marR="91440" marT="27432" marB="27432" anchor="ctr">
                    <a:solidFill>
                      <a:srgbClr val="331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D200"/>
                          </a:solidFill>
                          <a:latin typeface="Segoe UI"/>
                        </a:rPr>
                        <a:t>65 км/ч</a:t>
                      </a:r>
                    </a:p>
                  </a:txBody>
                  <a:tcPr marL="128016" marR="91440" marT="27432" marB="27432" anchor="ctr">
                    <a:solidFill>
                      <a:srgbClr val="331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D200"/>
                          </a:solidFill>
                          <a:latin typeface="Segoe UI"/>
                        </a:rPr>
                        <a:t>1.20</a:t>
                      </a:r>
                    </a:p>
                  </a:txBody>
                  <a:tcPr marL="128016" marR="91440" marT="27432" marB="27432" anchor="ctr">
                    <a:solidFill>
                      <a:srgbClr val="331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D200"/>
                          </a:solidFill>
                          <a:latin typeface="Segoe UI"/>
                        </a:rPr>
                        <a:t>для Каширы, Домодедова, Ступина</a:t>
                      </a:r>
                    </a:p>
                  </a:txBody>
                  <a:tcPr marL="128016" marR="91440" marT="27432" marB="27432" anchor="ctr">
                    <a:solidFill>
                      <a:srgbClr val="331E5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4339971"/>
            <a:ext cx="10817352" cy="779907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4339971"/>
            <a:ext cx="41148" cy="779907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458843"/>
            <a:ext cx="10332720" cy="5970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Расстояние не зависит от транспорта — это геометрия, и именно оно идёт в обязательную метрику пробега. Время зависит от транспорта и идёт в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ограничение по времени. Путать их нельзя.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Поверх — коэффициент часа, настроенный под реальный рабочий день данных 10:00–22:00.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Продуктовое исследование · Кейс «Билайн Бизнес» · ЛЦТ-2026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19088"/>
            <a:ext cx="896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82296" cy="42062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Объяснение должно быть трёхуровневым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006348"/>
            <a:ext cx="10607040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A897C4"/>
                </a:solidFill>
                <a:latin typeface="Segoe UI"/>
              </a:rPr>
              <a:t>Пример на реальных бригадах и районах зоны Юго-восток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53387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A472F5"/>
                </a:solidFill>
                <a:latin typeface="Segoe UI"/>
              </a:rPr>
              <a:t>Вердикт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0208" y="1953387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Заявка 305894907 → бригада Паршин, 16:20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538603"/>
            <a:ext cx="292608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A472F5"/>
                </a:solidFill>
                <a:latin typeface="Segoe UI"/>
              </a:rPr>
              <a:t>Причина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0208" y="2538603"/>
            <a:ext cx="731520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Паршин — один из четырёх инженеров с нужным навыком. Он уже работает в Домодедове, следующий адрес в 1.2 км. Прибытие в 16:20 попадает в окно 16:00–18:00 с запасом 1 ч 40 мин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43961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A472F5"/>
                </a:solidFill>
                <a:latin typeface="Segoe UI"/>
              </a:rPr>
              <a:t>Альтернатива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208" y="3243961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Бригада Рыбин тоже подходит, но приехала бы в 17:40 и удлинила маршрут на 8.4 км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765169"/>
            <a:ext cx="10817352" cy="57734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765169"/>
            <a:ext cx="45720" cy="57734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29177"/>
            <a:ext cx="292608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D200"/>
                </a:solidFill>
                <a:latin typeface="Segoe UI"/>
              </a:rPr>
              <a:t>Почему третий уровень решает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8" y="3829177"/>
            <a:ext cx="731520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Он отвечает на возражение скептика «а может, другой вариант был лучше?» цифрой, а не словами. Этого почти наверняка не будет ни у кого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525391"/>
            <a:ext cx="10817352" cy="779907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525391"/>
            <a:ext cx="41148" cy="779907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644262"/>
            <a:ext cx="10332720" cy="5970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Объяснение — структура данных, а не строка: текст собирается шаблонами из измеренных факторов. Строку нельзя протестировать и нельзя проверить на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правдивость.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Самый убедительный фактор из наших данных: «та же самая многоэтажка» — переезд ноль минут (в данных 2.1 заявки на один дом).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190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Продуктовое исследование · Кейс «Билайн Бизнес» · ЛЦТ-2026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19088"/>
            <a:ext cx="896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82296" cy="42062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Отказ должен не констатироваться, а лечиться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73275"/>
            <a:ext cx="10817352" cy="1225296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73275"/>
            <a:ext cx="54864" cy="1225296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73275"/>
            <a:ext cx="1005840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FFD200"/>
                </a:solidFill>
                <a:latin typeface="Segoe UI"/>
              </a:rPr>
              <a:t>Заявка 305923527 — не назначена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109468"/>
            <a:ext cx="100584" cy="100584"/>
          </a:xfrm>
          <a:prstGeom prst="ellipse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018028"/>
            <a:ext cx="10104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0">
                <a:solidFill>
                  <a:srgbClr val="E3DAEF"/>
                </a:solidFill>
                <a:latin typeface="Segoe UI"/>
              </a:rPr>
              <a:t>12 бригад всего  →  5 отпало: нет навыка «Аварийные работы»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438652"/>
            <a:ext cx="100584" cy="100584"/>
          </a:xfrm>
          <a:prstGeom prst="ellipse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347212"/>
            <a:ext cx="10104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0">
                <a:solidFill>
                  <a:srgbClr val="E3DAEF"/>
                </a:solidFill>
                <a:latin typeface="Segoe UI"/>
              </a:rPr>
              <a:t>→  2 отпало: нет требуемого транспорта «Автомобиль»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767835"/>
            <a:ext cx="100584" cy="100584"/>
          </a:xfrm>
          <a:prstGeom prst="ellipse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676395"/>
            <a:ext cx="10104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0">
                <a:solidFill>
                  <a:srgbClr val="E3DAEF"/>
                </a:solidFill>
                <a:latin typeface="Segoe UI"/>
              </a:rPr>
              <a:t>→  4 отпало: окно 16:00–18:00 не стыкуется с их маршрутом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4097019"/>
            <a:ext cx="100584" cy="100584"/>
          </a:xfrm>
          <a:prstGeom prst="ellipse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15568" y="4005580"/>
            <a:ext cx="10104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0">
                <a:solidFill>
                  <a:srgbClr val="E3DAEF"/>
                </a:solidFill>
                <a:latin typeface="Segoe UI"/>
              </a:rPr>
              <a:t>→  1 отпала: работа не помещается до конца смены (нужно 40 мин, осталось 25)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499356"/>
            <a:ext cx="10817352" cy="60528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499356"/>
            <a:ext cx="41148" cy="605282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618228"/>
            <a:ext cx="10332720" cy="422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Что поможет: продлить смену Козыря на 20 минут ИЛИ перенести окно на 18:00–20:00 — тогда заявку возьмёт Рыбин.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Это превращает «сервис не смог» в «сервис объяснил, что сделать». Цифры условные — показана форма диагностики на реальных бригадах зоны Юго-восток.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190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Продуктовое исследование · Кейс «Билайн Бизнес» · ЛЦТ-2026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19088"/>
            <a:ext cx="896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82296" cy="42062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Изменение должно быть видно, а не найдено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006348"/>
            <a:ext cx="10607040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A897C4"/>
                </a:solidFill>
                <a:latin typeface="Segoe UI"/>
              </a:rPr>
              <a:t>ТЗ требует показать, какие назначения, порядок и маршруты изменились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889379"/>
            <a:ext cx="3447288" cy="2316035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89379"/>
            <a:ext cx="3447288" cy="5029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145411"/>
            <a:ext cx="28986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Различия — отдельная сущность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30627"/>
            <a:ext cx="2898648" cy="942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Не «перерисовали карту»,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а классифицированные изменения: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добавлено · снято · передано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переставлено · сдвинуто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3709543"/>
            <a:ext cx="2898648" cy="349567"/>
          </a:xfrm>
          <a:prstGeom prst="rect">
            <a:avLst/>
          </a:prstGeom>
          <a:solidFill>
            <a:srgbClr val="331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06424" y="3709543"/>
            <a:ext cx="2624328" cy="3495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A897C4"/>
                </a:solidFill>
                <a:latin typeface="Segoe UI"/>
              </a:rPr>
              <a:t>иначе ответ будет «изменилось всё»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70832" y="1889379"/>
            <a:ext cx="3447288" cy="2316035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70832" y="1889379"/>
            <a:ext cx="3447288" cy="50292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2145411"/>
            <a:ext cx="28986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Прошлое не пересматривается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730627"/>
            <a:ext cx="2898648" cy="942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Визиты, начатые до момента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события, замораживаются.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Пересчитываются только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стартовая точка и время готовности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45152" y="3709543"/>
            <a:ext cx="2898648" cy="349567"/>
          </a:xfrm>
          <a:prstGeom prst="rect">
            <a:avLst/>
          </a:prstGeom>
          <a:solidFill>
            <a:srgbClr val="331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91456" y="3709543"/>
            <a:ext cx="2624328" cy="3495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A897C4"/>
                </a:solidFill>
                <a:latin typeface="Segoe UI"/>
              </a:rPr>
              <a:t>в данных уже есть 6 бригад в пути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55864" y="1889379"/>
            <a:ext cx="3447288" cy="2316035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55864" y="1889379"/>
            <a:ext cx="3447288" cy="50292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30184" y="2145411"/>
            <a:ext cx="2898648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Segoe UI"/>
              </a:rPr>
              <a:t>Стабильность важнее идеала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0184" y="2730627"/>
            <a:ext cx="2898648" cy="942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Переназначение оправдано,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только если экономит больше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20 километров. Ниже порога</a:t>
            </a:r>
          </a:p>
          <a:p>
            <a:pPr algn="l">
              <a:lnSpc>
                <a:spcPct val="134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стабильность плана важнее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30184" y="3709543"/>
            <a:ext cx="2898648" cy="349567"/>
          </a:xfrm>
          <a:prstGeom prst="rect">
            <a:avLst/>
          </a:prstGeom>
          <a:solidFill>
            <a:srgbClr val="331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76488" y="3709543"/>
            <a:ext cx="2624328" cy="34956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50" b="0">
                <a:solidFill>
                  <a:srgbClr val="A897C4"/>
                </a:solidFill>
                <a:latin typeface="Segoe UI"/>
              </a:rPr>
              <a:t>диспетчер уже позвонил абонентам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4443158"/>
            <a:ext cx="10817352" cy="60528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4443158"/>
            <a:ext cx="41148" cy="605282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562030"/>
            <a:ext cx="10332720" cy="422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Три события ТЗ — срочная заявка, отмена, недоступность инженера — сводятся к правке входных множеств. Модель при этом не меняется вообще: одна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модель, два режима.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4190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Продуктовое исследование · Кейс «Билайн Бизнес» · ЛЦТ-2026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419088"/>
            <a:ext cx="896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82296" cy="42062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Измерять нужно честно — иначе сравнение врёт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006348"/>
            <a:ext cx="10607040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A897C4"/>
                </a:solidFill>
                <a:latin typeface="Segoe UI"/>
              </a:rPr>
              <a:t>Числа условные — показан принцип. Обе обязательные метрики сравнимы только при равном числе выполненных заявок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89379"/>
          <a:ext cx="10817352" cy="18653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0"/>
                <a:gridCol w="3108960"/>
                <a:gridCol w="3136392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A472F5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A472F5"/>
                          </a:solidFill>
                          <a:latin typeface="Segoe UI"/>
                        </a:rPr>
                        <a:t>Базовый вариант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A472F5"/>
                          </a:solidFill>
                          <a:latin typeface="Segoe UI"/>
                        </a:rPr>
                        <a:t>Целевое решение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Выполнено заявок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71 из 83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83 из 83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Задействовано бригад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Суммарный пробег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340 км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395 км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D200"/>
                          </a:solidFill>
                          <a:latin typeface="Segoe UI"/>
                        </a:rPr>
                        <a:t>Пробег на заявку</a:t>
                      </a:r>
                    </a:p>
                  </a:txBody>
                  <a:tcPr marL="128016" marR="91440" marT="27432" marB="27432" anchor="ctr">
                    <a:solidFill>
                      <a:srgbClr val="331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D200"/>
                          </a:solidFill>
                          <a:latin typeface="Segoe UI"/>
                        </a:rPr>
                        <a:t>4.79 км</a:t>
                      </a:r>
                    </a:p>
                  </a:txBody>
                  <a:tcPr marL="128016" marR="91440" marT="27432" marB="27432" anchor="ctr">
                    <a:solidFill>
                      <a:srgbClr val="331E5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D200"/>
                          </a:solidFill>
                          <a:latin typeface="Segoe UI"/>
                        </a:rPr>
                        <a:t>4.76 км</a:t>
                      </a:r>
                    </a:p>
                  </a:txBody>
                  <a:tcPr marL="128016" marR="91440" marT="27432" marB="27432" anchor="ctr">
                    <a:solidFill>
                      <a:srgbClr val="331E5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3955923"/>
            <a:ext cx="10817352" cy="650494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3955923"/>
            <a:ext cx="45720" cy="65049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4047363"/>
            <a:ext cx="10332720" cy="261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A897C4"/>
                </a:solidFill>
                <a:latin typeface="Segoe UI"/>
              </a:rPr>
              <a:t>Наивный вывод: «базовый вариант лучше по обеим обязательным метрикам».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4253738"/>
            <a:ext cx="10332720" cy="2612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1">
                <a:solidFill>
                  <a:srgbClr val="E3DAEF"/>
                </a:solidFill>
                <a:latin typeface="Segoe UI"/>
              </a:rPr>
              <a:t>Правильный вывод: он просто не сделал 12 заявок — конечно, ему хватило меньше людей и километров.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825873"/>
            <a:ext cx="10817352" cy="60528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4825873"/>
            <a:ext cx="41148" cy="605282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944745"/>
            <a:ext cx="10332720" cy="422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Сравнение ведётся в том же лексикографическом порядке, что и оптимизация: сначала заявки, потом бригады, потом пробег. Плюс отдельный режим «при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равных условиях» — целевое решение на том же подмножестве заявок, что осилил базовый вариант.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4190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Продуктовое исследование · Кейс «Билайн Бизнес» · ЛЦТ-2026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19088"/>
            <a:ext cx="896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82296" cy="42062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Как должен выглядеть экран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006348"/>
            <a:ext cx="10607040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A897C4"/>
                </a:solidFill>
                <a:latin typeface="Segoe UI"/>
              </a:rPr>
              <a:t>Один экран — весь день. Диспетчер не должен переключать вкладки, чтобы понять план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53387"/>
            <a:ext cx="292608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A472F5"/>
                </a:solidFill>
                <a:latin typeface="Segoe UI"/>
              </a:rPr>
              <a:t>Постоянная панель метрик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0208" y="1953387"/>
            <a:ext cx="731520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Заявки, бригады, пробег и сравнение с базовым вариантом видны всегда, а не в отдельной вкладке. Каждое число кликабельно и раскрывается в «почему столько»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58745"/>
            <a:ext cx="292608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A472F5"/>
                </a:solidFill>
                <a:latin typeface="Segoe UI"/>
              </a:rPr>
              <a:t>Карта и таймлайн одновременно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0208" y="2658745"/>
            <a:ext cx="731520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На карте не видно времени, а половина ограничений — временные. Поэтому лента визитов по бригадам обязательна наравне с картой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64102"/>
            <a:ext cx="292608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A472F5"/>
                </a:solidFill>
                <a:latin typeface="Segoe UI"/>
              </a:rPr>
              <a:t>Неназначенные — на видном месте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208" y="3364102"/>
            <a:ext cx="731520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Отказ отображается так же заметно, как назначение, и всегда с причиной и рецептом. Не в подвале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069461"/>
            <a:ext cx="292608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A472F5"/>
                </a:solidFill>
                <a:latin typeface="Segoe UI"/>
              </a:rPr>
              <a:t>Экран проверки плана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208" y="4069461"/>
            <a:ext cx="731520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Счётчики по каждому ограничению: сколько проверок прошло, сколько нарушено. Материальный ответ на первый вопрос жюри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710810"/>
            <a:ext cx="10817352" cy="57734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710810"/>
            <a:ext cx="45720" cy="57734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774819"/>
            <a:ext cx="292608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D200"/>
                </a:solidFill>
                <a:latin typeface="Segoe UI"/>
              </a:rPr>
              <a:t>Только русский язык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208" y="4774819"/>
            <a:ext cx="731520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Ни одного технического кода в пользовательском тексте. Смешение языков мгновенно выдаёт прототип, собранный наспех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190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Продуктовое исследование · Кейс «Билайн Бизнес» · ЛЦТ-2026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6419088"/>
            <a:ext cx="896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0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286000"/>
            <a:ext cx="82296" cy="1828800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39696"/>
            <a:ext cx="2743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5400" b="1">
                <a:solidFill>
                  <a:srgbClr val="331E52"/>
                </a:solidFill>
                <a:latin typeface="Segoe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27248"/>
            <a:ext cx="96012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Segoe UI"/>
              </a:rPr>
              <a:t>Почему именно так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86784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50" b="0">
                <a:solidFill>
                  <a:srgbClr val="A897C4"/>
                </a:solidFill>
                <a:latin typeface="Segoe UI"/>
              </a:rPr>
              <a:t>Обоснование ключевых развилок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82296" cy="42062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Почему решение должно быть именно таким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006348"/>
            <a:ext cx="10607040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A897C4"/>
                </a:solidFill>
                <a:latin typeface="Segoe UI"/>
              </a:rPr>
              <a:t>Каждая развилка имеет причину, а не «так получилось»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16773"/>
          <a:ext cx="10817352" cy="43068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56507"/>
                <a:gridCol w="6760845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A472F5"/>
                          </a:solidFill>
                          <a:latin typeface="Segoe UI"/>
                        </a:rPr>
                        <a:t>Решение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A472F5"/>
                          </a:solidFill>
                          <a:latin typeface="Segoe UI"/>
                        </a:rPr>
                        <a:t>Почему именно так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Помощник, а не автомат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У диспетчера есть знание вне данных. Система, делающая вид, что знает лучше, будет отвергнута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Объяснимость важнее</a:t>
                      </a: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последних процентов пробега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ТЗ освобождает от доказательства оптимума, но требует понятности; вес критериев это подтверждает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Работа на реальных данных,</a:t>
                      </a: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а не на синтетике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Есть прямой прецедент: жюри ЛЦТ критиковало решение, показанное без выданных данных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Строгий порядок критериев,</a:t>
                      </a: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а не сумма весов на глаз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Подобранные на глаз веса дают неустойчивое поведение, которое невозможно защитить на вопросе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Честное сравнение,</a:t>
                      </a:r>
                    </a:p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а не выгодное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Технический эксперт за минуту увидит, что у базового варианта меньше назначенных заявок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Планирование по зонам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Каждая зона точно попадает в рекомендованный масштаб; бригады и так закреплены за территорией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</a:tr>
              <a:tr h="557784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Демонстрация без интернета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Отказ сети на площадке — реалистичный сценарий с высоким ущербом; страховка стоит несколько часов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64190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Продуктовое исследование · Кейс «Билайн Бизнес» · ЛЦТ-2026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419088"/>
            <a:ext cx="896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82296" cy="42062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Порядок работ: что делать в какой очерёдности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006348"/>
            <a:ext cx="10607040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A897C4"/>
                </a:solidFill>
                <a:latin typeface="Segoe UI"/>
              </a:rPr>
              <a:t>Критический путь: парсер → матрица → минимизация бригад → метрики → интерфейс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876488"/>
          <a:ext cx="10817351" cy="29626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48752"/>
                <a:gridCol w="9368599"/>
              </a:tblGrid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A472F5"/>
                          </a:solidFill>
                          <a:latin typeface="Segoe UI"/>
                        </a:rPr>
                        <a:t>Волна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A472F5"/>
                          </a:solidFill>
                          <a:latin typeface="Segoe UI"/>
                        </a:rPr>
                        <a:t>Задачи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Парсер датасета · Геокодирование с кэшем · Независимый валидатор плана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Матрица времени по типам транспорта · Переход на справочники ТЗ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Маршрут без возврата на базу · Минимизация числа бригад · Базовый вариант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Метрики и панель честного сравнения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Объяснимость · Перепланирование и различия · Демонстрационные данные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Интерфейс диспетчера</a:t>
                      </a:r>
                    </a:p>
                  </a:txBody>
                  <a:tcPr marL="128016" marR="91440" marT="27432" marB="27432" anchor="ctr">
                    <a:solidFill>
                      <a:srgbClr val="1C0F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20000"/>
                        </a:lnSpc>
                        <a:spcAft>
                          <a:spcPts val="0"/>
                        </a:spcAft>
                      </a:pPr>
                      <a:r>
                        <a:rPr sz="1200" b="0">
                          <a:solidFill>
                            <a:srgbClr val="E3DAEF"/>
                          </a:solidFill>
                          <a:latin typeface="Segoe UI"/>
                        </a:rPr>
                        <a:t>Документация и инструкция запуска · Презентация и репетиции</a:t>
                      </a:r>
                    </a:p>
                  </a:txBody>
                  <a:tcPr marL="128016" marR="91440" marT="27432" marB="27432" anchor="ctr">
                    <a:solidFill>
                      <a:srgbClr val="26163D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85800" y="5058600"/>
            <a:ext cx="10817352" cy="60528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5058600"/>
            <a:ext cx="41148" cy="605282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5177472"/>
            <a:ext cx="10332720" cy="422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Четыре первые задачи закрывают расхождения с ТЗ, найденные при аудите: возврат на базу завышает обязательную метрику пробега, минимизация числа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бригад отсутствует, базового варианта нет, справочники не соответствуют ТЗ.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64190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Продуктовое исследование · Кейс «Билайн Бизнес» · ЛЦТ-2026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0" y="6419088"/>
            <a:ext cx="896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82296" cy="42062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Что исследование не проверило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006348"/>
            <a:ext cx="10607040" cy="2978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A897C4"/>
                </a:solidFill>
                <a:latin typeface="Segoe UI"/>
              </a:rPr>
              <a:t>Границы собственного знания названы явно — это часть профессиональной позиции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53387"/>
            <a:ext cx="2926080" cy="452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A472F5"/>
                </a:solidFill>
                <a:latin typeface="Segoe UI"/>
              </a:rPr>
              <a:t>Фактическое геокодирование адресов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50208" y="1953387"/>
            <a:ext cx="7315200" cy="452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Требует доступа к геокодеру. Ожидаемое покрытие оценено, но не измерено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25725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A472F5"/>
                </a:solidFill>
                <a:latin typeface="Segoe UI"/>
              </a:rPr>
              <a:t>Точность модели времени в пути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50208" y="2625725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Не сверялась с реальными маршрутами — нужен маршрутизатор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210941"/>
            <a:ext cx="292608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A472F5"/>
                </a:solidFill>
                <a:latin typeface="Segoe UI"/>
              </a:rPr>
              <a:t>Реальная величина разрыва с базовым вариантом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50208" y="3210941"/>
            <a:ext cx="731520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Требует работающего расчётного конвейера. Поэтому предложен автоматический контроль этого разрыва, а не разовая проверка перед защитой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3852291"/>
            <a:ext cx="10817352" cy="57734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3852291"/>
            <a:ext cx="45720" cy="577342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16299"/>
            <a:ext cx="292608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1">
                <a:solidFill>
                  <a:srgbClr val="FFD200"/>
                </a:solidFill>
                <a:latin typeface="Segoe UI"/>
              </a:rPr>
              <a:t>Реальные нормативы длительности и транспорт бригад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50208" y="3916299"/>
            <a:ext cx="7315200" cy="485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E3DAEF"/>
                </a:solidFill>
                <a:latin typeface="Segoe UI"/>
              </a:rPr>
              <a:t>Этих данных нет в датасете вообще. Два самых слабых допущения — и два главных вопроса к кейсодержателю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612512"/>
            <a:ext cx="10817352" cy="60528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4612512"/>
            <a:ext cx="41148" cy="605282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731384"/>
            <a:ext cx="10332720" cy="422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Каждое допущение спроектировано как параметр, а не как костыль: при появлении реальных данных заказчика оно заменяется настройкой, без переделки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модели.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64190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Продуктовое исследование · Кейс «Билайн Бизнес» · ЛЦТ-2026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419088"/>
            <a:ext cx="896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0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475488"/>
            <a:ext cx="82296" cy="420624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4942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Segoe UI"/>
              </a:rPr>
              <a:t>Итог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73275"/>
            <a:ext cx="10817352" cy="1225296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73275"/>
            <a:ext cx="54864" cy="1225296"/>
          </a:xfrm>
          <a:prstGeom prst="rect">
            <a:avLst/>
          </a:prstGeom>
          <a:solidFill>
            <a:srgbClr val="FFD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573275"/>
            <a:ext cx="1005840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800" b="1">
                <a:solidFill>
                  <a:srgbClr val="FFD200"/>
                </a:solidFill>
                <a:latin typeface="Segoe UI"/>
              </a:rPr>
              <a:t>Второй пилот диспетчера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3109468"/>
            <a:ext cx="100584" cy="100584"/>
          </a:xfrm>
          <a:prstGeom prst="ellipse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3018028"/>
            <a:ext cx="10104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0">
                <a:solidFill>
                  <a:srgbClr val="E3DAEF"/>
                </a:solidFill>
                <a:latin typeface="Segoe UI"/>
              </a:rPr>
              <a:t>Выполнимый — ни одного нарушения ограничений, и это доказано на экране</a:t>
            </a:r>
          </a:p>
        </p:txBody>
      </p:sp>
      <p:sp>
        <p:nvSpPr>
          <p:cNvPr id="10" name="Oval 9"/>
          <p:cNvSpPr/>
          <p:nvPr/>
        </p:nvSpPr>
        <p:spPr>
          <a:xfrm>
            <a:off x="777240" y="3438652"/>
            <a:ext cx="100584" cy="100584"/>
          </a:xfrm>
          <a:prstGeom prst="ellipse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347212"/>
            <a:ext cx="10104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0">
                <a:solidFill>
                  <a:srgbClr val="E3DAEF"/>
                </a:solidFill>
                <a:latin typeface="Segoe UI"/>
              </a:rPr>
              <a:t>Объяснимый — причина у каждого назначения и у каждого отказа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3767835"/>
            <a:ext cx="100584" cy="100584"/>
          </a:xfrm>
          <a:prstGeom prst="ellipse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676395"/>
            <a:ext cx="101041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350" b="0">
                <a:solidFill>
                  <a:srgbClr val="E3DAEF"/>
                </a:solidFill>
                <a:latin typeface="Segoe UI"/>
              </a:rPr>
              <a:t>Живой — новый план за секунды вместо часа ручной переигровки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170171"/>
            <a:ext cx="10817352" cy="605282"/>
          </a:xfrm>
          <a:prstGeom prst="rect">
            <a:avLst/>
          </a:prstGeom>
          <a:solidFill>
            <a:srgbClr val="2616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4170171"/>
            <a:ext cx="41148" cy="605282"/>
          </a:xfrm>
          <a:prstGeom prst="rect">
            <a:avLst/>
          </a:prstGeom>
          <a:solidFill>
            <a:srgbClr val="A472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289044"/>
            <a:ext cx="10332720" cy="4224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В данных заказчика уже лежит размеченный человеком датасет решений. На нём систему можно учить не только считать километры, но и воспроизводить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A897C4"/>
                </a:solidFill>
                <a:latin typeface="Segoe UI"/>
              </a:rPr>
              <a:t>предпочтения реальных диспетчеров.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41908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Продуктовое исследование · Кейс «Билайн Бизнес» · ЛЦТ-2026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19088"/>
            <a:ext cx="89611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900" b="0">
                <a:solidFill>
                  <a:srgbClr val="7C6B99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Каким должен быть сервис планирования маршрутов — исследование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